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2"/>
      <p:bold r:id="rId13"/>
    </p:embeddedFont>
    <p:embeddedFont>
      <p:font typeface="Roboto Slab" pitchFamily="2" charset="0"/>
      <p:regular r:id="rId14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891" y="1399085"/>
            <a:ext cx="4395651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Робот</a:t>
            </a: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для</a:t>
            </a: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перемещения</a:t>
            </a: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паллет</a:t>
            </a: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</a:t>
            </a: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4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складе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05FC3-A208-3589-88C9-89172680A109}"/>
              </a:ext>
            </a:extLst>
          </p:cNvPr>
          <p:cNvSpPr txBox="1"/>
          <p:nvPr/>
        </p:nvSpPr>
        <p:spPr>
          <a:xfrm>
            <a:off x="146891" y="3155223"/>
            <a:ext cx="41377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1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Работу выполнили</a:t>
            </a:r>
            <a:r>
              <a:rPr lang="en-US" sz="1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3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студенты группы МР-22-1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ru-RU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Гильфанов Тимур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ru-RU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Мартыненко Илья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ru-RU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Барабанов Дмитрий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ru-RU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Шестаков Андрей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AA2911-EBEC-6363-5817-24D8CC60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5" y="4839219"/>
            <a:ext cx="2133785" cy="2895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023379-2403-D54E-6802-4F101E831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-14696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77651"/>
            <a:ext cx="5163517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Команда и ключевые роли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1072828"/>
            <a:ext cx="8182719" cy="82398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64" y="1381795"/>
            <a:ext cx="205978" cy="2059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1993" y="122917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Капитан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81993" y="1523479"/>
            <a:ext cx="73250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Гильфанов Тимур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2029792"/>
            <a:ext cx="8182719" cy="82398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64" y="2338760"/>
            <a:ext cx="205978" cy="20597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81993" y="2186136"/>
            <a:ext cx="179337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Менеджер-электрик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181993" y="2480444"/>
            <a:ext cx="73250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Мартыненко Илья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2986757"/>
            <a:ext cx="8182719" cy="82398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64" y="3295724"/>
            <a:ext cx="205978" cy="20597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81993" y="314310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Программист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1181993" y="3437409"/>
            <a:ext cx="73250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Барабанов Дмитрий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3943722"/>
            <a:ext cx="8182719" cy="82398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364" y="4252689"/>
            <a:ext cx="205978" cy="20597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81993" y="410006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Сборщик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1181993" y="4394374"/>
            <a:ext cx="73250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Шестаков Андрей</a:t>
            </a:r>
            <a:endParaRPr lang="en-US" sz="14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1E1868A-010B-8024-E973-6A5C6EACA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215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3182" y="933195"/>
            <a:ext cx="7524206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Постановка задачи — почему это важно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64178" y="2129740"/>
            <a:ext cx="7471954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Сотрудники тратят значительное время и усилия на ручную погрузку/перемещение тяжёлых паллет.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Цель: 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 автономного робота, который следует по разметке, поднимает паллету и доставляет её по маршруту.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Ожидаемый эффект: 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снижение физической нагрузки, меньше простоев и более предсказуемая внутренняя логистика.</a:t>
            </a:r>
            <a:endParaRPr lang="en-US" sz="1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439D76-DD10-D457-5F43-D2A07B3C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5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74075" y="317184"/>
            <a:ext cx="5525588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Решение — кратко о концепции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72291" y="1094291"/>
            <a:ext cx="826864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Робот движется по нанесённой линии с помощью двух датчиков линии. При подходе к паллете включается подъёмный механизм (рейка или винтовой привод), паллета поднимается на заданную высоту, после чего робот продолжает движение до зоны выгрузки.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72291" y="2121650"/>
            <a:ext cx="8268640" cy="738560"/>
          </a:xfrm>
          <a:prstGeom prst="roundRect">
            <a:avLst>
              <a:gd name="adj" fmla="val 26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502962" y="2252322"/>
            <a:ext cx="16494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Простая</a:t>
            </a: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16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навигация</a:t>
            </a:r>
            <a:endParaRPr lang="en-US" sz="1250" b="1" dirty="0"/>
          </a:p>
        </p:txBody>
      </p:sp>
      <p:sp>
        <p:nvSpPr>
          <p:cNvPr id="7" name="Text 4"/>
          <p:cNvSpPr/>
          <p:nvPr/>
        </p:nvSpPr>
        <p:spPr>
          <a:xfrm>
            <a:off x="502962" y="2528695"/>
            <a:ext cx="453896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Разметка + датчики — дешёвая и надёжная схема.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2291" y="2980686"/>
            <a:ext cx="8268640" cy="738560"/>
          </a:xfrm>
          <a:prstGeom prst="roundRect">
            <a:avLst>
              <a:gd name="adj" fmla="val 26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02962" y="311135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Модуль подъёма</a:t>
            </a:r>
            <a:endParaRPr lang="en-US" b="1" dirty="0"/>
          </a:p>
        </p:txBody>
      </p:sp>
      <p:sp>
        <p:nvSpPr>
          <p:cNvPr id="10" name="Text 7"/>
          <p:cNvSpPr/>
          <p:nvPr/>
        </p:nvSpPr>
        <p:spPr>
          <a:xfrm>
            <a:off x="502962" y="3387731"/>
            <a:ext cx="453896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Вертикальный подъём без сложной гидравлики.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2291" y="3858734"/>
            <a:ext cx="8268640" cy="738560"/>
          </a:xfrm>
          <a:prstGeom prst="roundRect">
            <a:avLst>
              <a:gd name="adj" fmla="val 26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502962" y="397039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Интеграция</a:t>
            </a:r>
            <a:endParaRPr lang="en-US" sz="1600" b="1" dirty="0"/>
          </a:p>
        </p:txBody>
      </p:sp>
      <p:sp>
        <p:nvSpPr>
          <p:cNvPr id="13" name="Text 10"/>
          <p:cNvSpPr/>
          <p:nvPr/>
        </p:nvSpPr>
        <p:spPr>
          <a:xfrm>
            <a:off x="502962" y="4228014"/>
            <a:ext cx="453896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Arduino, мотор‑драйверы, питание и защищённый корпус.</a:t>
            </a:r>
            <a:endParaRPr lang="en-US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CE542E-B128-BDB4-EC62-AC4CF822A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5" y="4792723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6307"/>
            <a:ext cx="496356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Комплектующие, модели и код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64184"/>
            <a:ext cx="8327841" cy="206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Аппаратно:</a:t>
            </a:r>
            <a:r>
              <a:rPr lang="en-US" sz="1400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Arduino Nano, 2 </a:t>
            </a: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мотора-редуктора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2 датчика линии (TCRT5000), механизм подъёма (сервопривод + рейка или мотор‑редуктор), батарейный отсек, детали корпуса — 3D‑печать.</a:t>
            </a:r>
            <a:endParaRPr lang="ru-RU" sz="140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Модели:</a:t>
            </a:r>
            <a:r>
              <a:rPr lang="en-US" sz="1400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3D‑модель корпуса и направляющей для </a:t>
            </a:r>
            <a:r>
              <a:rPr lang="en-US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подъёма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ru-RU" sz="140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Программно:</a:t>
            </a:r>
            <a:r>
              <a:rPr lang="en-US" sz="1400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ПИД‑регулятор для точного слежения за линией; FSM: поиск линии → движение → останов → подъём → продолжение. Логика аварийной остановки и контроль заряда батареи.</a:t>
            </a:r>
            <a:endParaRPr lang="en-US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824263-6121-0A76-DBAE-E11E505CF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5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63217" y="762840"/>
            <a:ext cx="47636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Уникальность решения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2169541"/>
            <a:ext cx="7981675" cy="202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Компактный вертикальный подъём паллеты без гидравлики — экономичнее и легче в обслуживании.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 с двумя датчиками линии — минимизация затрат на сенсоры при сохранении точности.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Отказ от дорогой навигации (SLAM, камеры) — надёжность в средах с предсказуемой разметкой.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85700D-5A28-0D79-11E5-966630C9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76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65068" y="1104677"/>
            <a:ext cx="7380515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Внедрение — где это полезно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9451" y="2451273"/>
            <a:ext cx="7687491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Малые и средние склады без автоматизированных стеллажей.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Супермаркеты — перемещение поддонов из зоны приёмки в торговый зал.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Производственные цеха — доставка заготовок между участками.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49701" y="368446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E8CD85-06D9-653C-BFE1-DC4A775D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059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2646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План внедрения и этапы проекта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52" y="1472885"/>
            <a:ext cx="4722763" cy="2125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7554" y="1562221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Доработка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1207554" y="1726265"/>
            <a:ext cx="826463" cy="306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Прототип и лабораторные испытания</a:t>
            </a:r>
            <a:endParaRPr lang="en-US" sz="600" dirty="0"/>
          </a:p>
        </p:txBody>
      </p:sp>
      <p:sp>
        <p:nvSpPr>
          <p:cNvPr id="7" name="Text 3"/>
          <p:cNvSpPr/>
          <p:nvPr/>
        </p:nvSpPr>
        <p:spPr>
          <a:xfrm>
            <a:off x="2024935" y="3207201"/>
            <a:ext cx="831004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Пилот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024935" y="3371245"/>
            <a:ext cx="831004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Тест на складе на 1–2 участках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2833234" y="1597414"/>
            <a:ext cx="826463" cy="127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Оптимизация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833234" y="1761458"/>
            <a:ext cx="826463" cy="20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Нагрузка и время цикла по метрикам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3650615" y="3092257"/>
            <a:ext cx="826463" cy="255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0615" y="3384016"/>
            <a:ext cx="826463" cy="306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нескольких роботов и сеть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96119" y="380970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Краткое объяснение: начать с лабораторных тестов, затем пилот на 1–2 участках, собрать метрики (время цикла, отказоустойчивость), внести улучшения и масштабировать в сеть с централизованным управлением зарядом и маршрутами.</a:t>
            </a:r>
            <a:endParaRPr lang="en-US" sz="11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FC13BA2-8576-DF2C-99E3-6A5E5EFE6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15" y="4853915"/>
            <a:ext cx="2133785" cy="28958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9531" y="373289"/>
            <a:ext cx="784390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Выводы и следующие шаги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806251" y="1301661"/>
            <a:ext cx="1487835" cy="3271614"/>
          </a:xfrm>
          <a:prstGeom prst="roundRect">
            <a:avLst>
              <a:gd name="adj" fmla="val 1407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964827" y="1552196"/>
            <a:ext cx="117068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Ключевая польза</a:t>
            </a:r>
            <a:endParaRPr lang="en-US" sz="1350" b="1" dirty="0"/>
          </a:p>
        </p:txBody>
      </p:sp>
      <p:sp>
        <p:nvSpPr>
          <p:cNvPr id="6" name="Text 3"/>
          <p:cNvSpPr/>
          <p:nvPr/>
        </p:nvSpPr>
        <p:spPr>
          <a:xfrm>
            <a:off x="1964827" y="2001634"/>
            <a:ext cx="1170682" cy="243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Снижение физической нагрузки сотрудников, уменьшение времени перемещений и повышение предсказуемости внутренней логистики.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86162" y="1301661"/>
            <a:ext cx="1487835" cy="3271614"/>
          </a:xfrm>
          <a:prstGeom prst="roundRect">
            <a:avLst>
              <a:gd name="adj" fmla="val 1407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3949584" y="1552196"/>
            <a:ext cx="117068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Короткий план</a:t>
            </a:r>
            <a:endParaRPr lang="en-US" sz="1350" b="1" dirty="0"/>
          </a:p>
        </p:txBody>
      </p:sp>
      <p:sp>
        <p:nvSpPr>
          <p:cNvPr id="9" name="Text 6"/>
          <p:cNvSpPr/>
          <p:nvPr/>
        </p:nvSpPr>
        <p:spPr>
          <a:xfrm>
            <a:off x="3949584" y="2017366"/>
            <a:ext cx="1170682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Доработать прототип → пилотировать на одном складе → собрать KPI → подготовить коммерческое предложение.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56552" y="1304234"/>
            <a:ext cx="1487835" cy="3271614"/>
          </a:xfrm>
          <a:prstGeom prst="roundRect">
            <a:avLst>
              <a:gd name="adj" fmla="val 1407"/>
            </a:avLst>
          </a:prstGeom>
          <a:solidFill>
            <a:srgbClr val="202733"/>
          </a:solidFill>
          <a:ln w="1905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5682364" y="1552196"/>
            <a:ext cx="117068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Запрос к руководству</a:t>
            </a:r>
            <a:endParaRPr lang="en-US" sz="1350" b="1" dirty="0"/>
          </a:p>
        </p:txBody>
      </p:sp>
      <p:sp>
        <p:nvSpPr>
          <p:cNvPr id="12" name="Text 9"/>
          <p:cNvSpPr/>
          <p:nvPr/>
        </p:nvSpPr>
        <p:spPr>
          <a:xfrm>
            <a:off x="5682364" y="2019539"/>
            <a:ext cx="1170682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Утвердить пилот (3 месяца), выделить зону для испытаний и доступ к 2–3 паллетам макета.</a:t>
            </a:r>
            <a:endParaRPr lang="en-US" sz="10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F6CD5F-8CAC-C38D-3642-6A71B5E0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15" y="4853915"/>
            <a:ext cx="2133785" cy="289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456</Words>
  <Application>Microsoft Office PowerPoint</Application>
  <PresentationFormat>Экран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Roboto</vt:lpstr>
      <vt:lpstr>Wingdings</vt:lpstr>
      <vt:lpstr>Roboto Slab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Jhon Smith</dc:creator>
  <cp:lastModifiedBy>Jhon Smith</cp:lastModifiedBy>
  <cp:revision>6</cp:revision>
  <dcterms:created xsi:type="dcterms:W3CDTF">2026-06-01T16:38:53Z</dcterms:created>
  <dcterms:modified xsi:type="dcterms:W3CDTF">2026-06-10T14:04:20Z</dcterms:modified>
</cp:coreProperties>
</file>